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lang="en-US" sz="2128" spc="94" strike="noStrike">
                <a:solidFill>
                  <a:srgbClr val="f2f2f2"/>
                </a:solidFill>
                <a:latin typeface="Calibri"/>
              </a:defRPr>
            </a:pPr>
            <a:r>
              <a:rPr b="1" lang="en-US" sz="2128" spc="94" strike="noStrike">
                <a:solidFill>
                  <a:srgbClr val="f2f2f2"/>
                </a:solidFill>
                <a:latin typeface="Calibri"/>
              </a:rPr>
              <a:t>How Often Do You Use GenAI?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AI Usage Frequency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803e82"/>
              </a:solidFill>
              <a:ln w="0">
                <a:noFill/>
              </a:ln>
            </c:spPr>
          </c:dPt>
          <c:dPt>
            <c:idx val="1"/>
            <c:spPr>
              <a:solidFill>
                <a:srgbClr val="00b0f0"/>
              </a:solidFill>
              <a:ln w="0">
                <a:noFill/>
              </a:ln>
            </c:spPr>
          </c:dPt>
          <c:dPt>
            <c:idx val="2"/>
            <c:spPr>
              <a:gradFill>
                <a:gsLst>
                  <a:gs pos="0">
                    <a:srgbClr val="aeaeae"/>
                  </a:gs>
                  <a:gs pos="50000">
                    <a:srgbClr val="a4a4a4"/>
                  </a:gs>
                  <a:gs pos="100000">
                    <a:srgbClr val="929292"/>
                  </a:gs>
                </a:gsLst>
                <a:lin ang="5400000"/>
              </a:gra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sz="1000" spc="-1" strike="noStrike">
                        <a:solidFill>
                          <a:srgbClr val="000000"/>
                        </a:solidFill>
                        <a:latin typeface="Calibri"/>
                      </a:rPr>
                      <a:t>74%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sz="1000" spc="-1" strike="noStrike">
                        <a:solidFill>
                          <a:srgbClr val="000000"/>
                        </a:solidFill>
                        <a:latin typeface="Calibri"/>
                      </a:rPr>
                      <a:t>23%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sz="1000" spc="-1" strike="noStrike">
                        <a:solidFill>
                          <a:srgbClr val="000000"/>
                        </a:solidFill>
                        <a:latin typeface="Calibri"/>
                      </a:rPr>
                      <a:t>3%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eparator>
</c:separator>
            </c:dLbl>
            <c:txPr>
              <a:bodyPr wrap="square"/>
              <a:lstStyle/>
              <a:p>
                <a:pPr>
                  <a:defRPr b="0" sz="1197" spc="-1" strike="noStrike">
                    <a:solidFill>
                      <a:srgbClr val="d9d9d9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3"/>
                <c:pt idx="0">
                  <c:v>Multiple times/day</c:v>
                </c:pt>
                <c:pt idx="1">
                  <c:v>Few times/week</c:v>
                </c:pt>
                <c:pt idx="2">
                  <c:v>Rarely/Never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74.3</c:v>
                </c:pt>
                <c:pt idx="1">
                  <c:v>22.9</c:v>
                </c:pt>
                <c:pt idx="2">
                  <c:v>2.8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97" spc="-1" strike="noStrike">
              <a:solidFill>
                <a:srgbClr val="d9d9d9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0070c0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lang="en-US" sz="2200" spc="-1" strike="noStrike">
                <a:solidFill>
                  <a:srgbClr val="404040"/>
                </a:solidFill>
                <a:latin typeface="Calibri"/>
              </a:defRPr>
            </a:pPr>
            <a:r>
              <a:rPr b="1" lang="en-US" sz="2200" spc="-1" strike="noStrike">
                <a:solidFill>
                  <a:srgbClr val="404040"/>
                </a:solidFill>
                <a:latin typeface="Calibri"/>
              </a:rPr>
              <a:t>Item Mean Scores (out of 5)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Planning</c:v>
                </c:pt>
              </c:strCache>
            </c:strRef>
          </c:tx>
          <c:spPr>
            <a:solidFill>
              <a:srgbClr val="4472c4">
                <a:alpha val="85000"/>
              </a:srgbClr>
            </a:solidFill>
            <a:ln w="9360">
              <a:solidFill>
                <a:srgbClr val="ffffff">
                  <a:alpha val="50000"/>
                </a:srgbClr>
              </a:solidFill>
              <a:round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197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AI Structure</c:v>
                </c:pt>
                <c:pt idx="1">
                  <c:v>Iterative Prompts</c:v>
                </c:pt>
                <c:pt idx="2">
                  <c:v>Own Planning</c:v>
                </c:pt>
                <c:pt idx="3">
                  <c:v>AI Replaces Me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4.09</c:v>
                </c:pt>
                <c:pt idx="1">
                  <c:v>3.89</c:v>
                </c:pt>
                <c:pt idx="2">
                  <c:v>3.43</c:v>
                </c:pt>
                <c:pt idx="3">
                  <c:v>2.96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Self-Evaluation</c:v>
                </c:pt>
              </c:strCache>
            </c:strRef>
          </c:tx>
          <c:spPr>
            <a:solidFill>
              <a:srgbClr val="ed7d31">
                <a:alpha val="85000"/>
              </a:srgbClr>
            </a:solidFill>
            <a:ln w="9360">
              <a:solidFill>
                <a:srgbClr val="ffffff">
                  <a:alpha val="50000"/>
                </a:srgbClr>
              </a:solidFill>
              <a:round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197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AI Structure</c:v>
                </c:pt>
                <c:pt idx="1">
                  <c:v>Iterative Prompts</c:v>
                </c:pt>
                <c:pt idx="2">
                  <c:v>Own Planning</c:v>
                </c:pt>
                <c:pt idx="3">
                  <c:v>AI Replaces Me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3.87</c:v>
                </c:pt>
                <c:pt idx="1">
                  <c:v>3.64</c:v>
                </c:pt>
                <c:pt idx="2">
                  <c:v>3.11</c:v>
                </c:pt>
                <c:pt idx="3">
                  <c:v>3.04</c:v>
                </c:pt>
              </c:numCache>
            </c:numRef>
          </c:val>
        </c:ser>
        <c:gapWidth val="65"/>
        <c:overlap val="0"/>
        <c:axId val="23999152"/>
        <c:axId val="21893293"/>
      </c:barChart>
      <c:catAx>
        <c:axId val="23999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9080">
            <a:solidFill>
              <a:srgbClr val="404040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Calibri"/>
              </a:defRPr>
            </a:pPr>
          </a:p>
        </c:txPr>
        <c:crossAx val="21893293"/>
        <c:crosses val="autoZero"/>
        <c:auto val="1"/>
        <c:lblAlgn val="ctr"/>
        <c:lblOffset val="100"/>
        <c:noMultiLvlLbl val="0"/>
      </c:catAx>
      <c:valAx>
        <c:axId val="21893293"/>
        <c:scaling>
          <c:orientation val="minMax"/>
          <c:max val="5"/>
          <c:min val="0"/>
        </c:scaling>
        <c:delete val="0"/>
        <c:axPos val="l"/>
        <c:majorGridlines>
          <c:spPr>
            <a:ln w="9360">
              <a:solidFill>
                <a:srgbClr val="bfbfbf">
                  <a:alpha val="36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low"/>
        <c:spPr>
          <a:ln w="648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Calibri"/>
              </a:defRPr>
            </a:pPr>
          </a:p>
        </c:txPr>
        <c:crossAx val="2399915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solidFill>
          <a:srgbClr val="f2f2f2">
            <a:alpha val="39000"/>
          </a:srgbClr>
        </a:solidFill>
        <a:ln w="0">
          <a:noFill/>
        </a:ln>
      </c:spPr>
      <c:txPr>
        <a:bodyPr/>
        <a:lstStyle/>
        <a:p>
          <a:pPr>
            <a:defRPr b="0" sz="1197" spc="-1" strike="noStrike">
              <a:solidFill>
                <a:srgbClr val="404040"/>
              </a:solidFill>
              <a:latin typeface="Calibri"/>
            </a:defRPr>
          </a:pPr>
        </a:p>
      </c:txPr>
    </c:legend>
    <c:plotVisOnly val="1"/>
    <c:dispBlanksAs val="span"/>
  </c:chart>
  <c:spPr>
    <a:gradFill>
      <a:gsLst>
        <a:gs pos="0">
          <a:srgbClr val="ffffff"/>
        </a:gs>
        <a:gs pos="39000">
          <a:srgbClr val="ffffff"/>
        </a:gs>
        <a:gs pos="100000">
          <a:srgbClr val="bfbfbf"/>
        </a:gs>
      </a:gsLst>
      <a:path path="circle">
        <a:fillToRect l="50000" t="0" r="50000" b="100000"/>
      </a:path>
    </a:gradFill>
    <a:ln w="9360">
      <a:solidFill>
        <a:srgbClr val="bfbfbf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it-IT" sz="1100" spc="-1" strike="noStrike">
                <a:solidFill>
                  <a:srgbClr val="0d2137"/>
                </a:solidFill>
                <a:latin typeface="Arial"/>
              </a:defRPr>
            </a:pPr>
            <a:r>
              <a:rPr b="0" lang="it-IT" sz="1100" spc="-1" strike="noStrike">
                <a:solidFill>
                  <a:srgbClr val="0d2137"/>
                </a:solidFill>
                <a:latin typeface="Arial"/>
              </a:rPr>
              <a:t>AI Usage Freq (4–5) vs Metacognitive Scores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Self-Eval</c:v>
                </c:pt>
              </c:strCache>
            </c:strRef>
          </c:tx>
          <c:spPr>
            <a:solidFill>
              <a:srgbClr val="0e7c7b"/>
            </a:solidFill>
            <a:ln w="19080">
              <a:noFill/>
            </a:ln>
          </c:spPr>
          <c:marker>
            <c:symbol val="circle"/>
            <c:size val="6"/>
            <c:spPr>
              <a:solidFill>
                <a:srgbClr val="0e7c7b"/>
              </a:solidFill>
            </c:spPr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10"/>
                <c:pt idx="0">
                  <c:v>3.2</c:v>
                </c:pt>
                <c:pt idx="1">
                  <c:v>3.4</c:v>
                </c:pt>
                <c:pt idx="2">
                  <c:v>3.5</c:v>
                </c:pt>
                <c:pt idx="3">
                  <c:v>3.6</c:v>
                </c:pt>
                <c:pt idx="4">
                  <c:v>3.8</c:v>
                </c:pt>
                <c:pt idx="5">
                  <c:v>3.1</c:v>
                </c:pt>
                <c:pt idx="6">
                  <c:v>2.9</c:v>
                </c:pt>
                <c:pt idx="7">
                  <c:v>3.7</c:v>
                </c:pt>
                <c:pt idx="8">
                  <c:v>3.3</c:v>
                </c:pt>
                <c:pt idx="9">
                  <c:v>3.5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10"/>
                <c:pt idx="0">
                  <c:v>2.8</c:v>
                </c:pt>
                <c:pt idx="1">
                  <c:v>3</c:v>
                </c:pt>
                <c:pt idx="2">
                  <c:v>3.2</c:v>
                </c:pt>
                <c:pt idx="3">
                  <c:v>3.1</c:v>
                </c:pt>
                <c:pt idx="4">
                  <c:v>3.3</c:v>
                </c:pt>
                <c:pt idx="5">
                  <c:v>2.9</c:v>
                </c:pt>
                <c:pt idx="6">
                  <c:v>3</c:v>
                </c:pt>
                <c:pt idx="7">
                  <c:v>3.2</c:v>
                </c:pt>
                <c:pt idx="8">
                  <c:v>2.7</c:v>
                </c:pt>
                <c:pt idx="9">
                  <c:v>3.1</c:v>
                </c:pt>
              </c:numCache>
            </c:numRef>
          </c:yVal>
          <c:smooth val="0"/>
        </c:ser>
        <c:axId val="55247056"/>
        <c:axId val="90547688"/>
      </c:scatterChart>
      <c:valAx>
        <c:axId val="55247056"/>
        <c:scaling>
          <c:orientation val="minMax"/>
          <c:max val="6"/>
          <c:min val="3"/>
        </c:scaling>
        <c:delete val="0"/>
        <c:axPos val="b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90547688"/>
        <c:crosses val="autoZero"/>
        <c:crossBetween val="midCat"/>
      </c:valAx>
      <c:valAx>
        <c:axId val="90547688"/>
        <c:scaling>
          <c:orientation val="minMax"/>
          <c:max val="5"/>
          <c:min val="1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55247056"/>
        <c:crosses val="autoZero"/>
        <c:crossBetween val="midCat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4f8f8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lang="fr-FR" sz="2200" spc="-1" strike="noStrike">
                <a:solidFill>
                  <a:srgbClr val="404040"/>
                </a:solidFill>
                <a:latin typeface="Calibri"/>
              </a:defRPr>
            </a:pPr>
            <a:r>
              <a:rPr b="1" lang="fr-FR" sz="2200" spc="-1" strike="noStrike">
                <a:solidFill>
                  <a:srgbClr val="404040"/>
                </a:solidFill>
                <a:latin typeface="Calibri"/>
              </a:rPr>
              <a:t>Composite Scores vs Midpoint &amp; Maximum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Study Score</c:v>
                </c:pt>
              </c:strCache>
            </c:strRef>
          </c:tx>
          <c:spPr>
            <a:solidFill>
              <a:srgbClr val="4472c4">
                <a:alpha val="85000"/>
              </a:srgbClr>
            </a:solidFill>
            <a:ln w="9360">
              <a:solidFill>
                <a:srgbClr val="ffffff">
                  <a:alpha val="50000"/>
                </a:srgbClr>
              </a:solidFill>
              <a:round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197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Planning
Composite</c:v>
                </c:pt>
                <c:pt idx="1">
                  <c:v>Self-Eval
Composite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3.45</c:v>
                </c:pt>
                <c:pt idx="1">
                  <c:v>3.02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Scale Midpoint</c:v>
                </c:pt>
              </c:strCache>
            </c:strRef>
          </c:tx>
          <c:spPr>
            <a:solidFill>
              <a:srgbClr val="ed7d31">
                <a:alpha val="85000"/>
              </a:srgbClr>
            </a:solidFill>
            <a:ln w="9360">
              <a:solidFill>
                <a:srgbClr val="ffffff">
                  <a:alpha val="50000"/>
                </a:srgbClr>
              </a:solidFill>
              <a:round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197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Planning
Composite</c:v>
                </c:pt>
                <c:pt idx="1">
                  <c:v>Self-Eval
Composite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Scale Max</c:v>
                </c:pt>
              </c:strCache>
            </c:strRef>
          </c:tx>
          <c:spPr>
            <a:solidFill>
              <a:srgbClr val="a5a5a5">
                <a:alpha val="85000"/>
              </a:srgbClr>
            </a:solidFill>
            <a:ln w="9360">
              <a:solidFill>
                <a:srgbClr val="ffffff">
                  <a:alpha val="50000"/>
                </a:srgbClr>
              </a:solidFill>
              <a:round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1" sz="1197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Planning
Composite</c:v>
                </c:pt>
                <c:pt idx="1">
                  <c:v>Self-Eval
Composite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gapWidth val="65"/>
        <c:overlap val="0"/>
        <c:axId val="35264586"/>
        <c:axId val="85298426"/>
      </c:barChart>
      <c:catAx>
        <c:axId val="3526458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9080">
            <a:solidFill>
              <a:srgbClr val="404040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Calibri"/>
              </a:defRPr>
            </a:pPr>
          </a:p>
        </c:txPr>
        <c:crossAx val="85298426"/>
        <c:crosses val="autoZero"/>
        <c:auto val="1"/>
        <c:lblAlgn val="ctr"/>
        <c:lblOffset val="100"/>
        <c:noMultiLvlLbl val="0"/>
      </c:catAx>
      <c:valAx>
        <c:axId val="85298426"/>
        <c:scaling>
          <c:orientation val="minMax"/>
          <c:max val="5"/>
          <c:min val="0"/>
        </c:scaling>
        <c:delete val="1"/>
        <c:axPos val="l"/>
        <c:majorGridlines>
          <c:spPr>
            <a:ln w="9360">
              <a:solidFill>
                <a:srgbClr val="bfbfbf">
                  <a:alpha val="36000"/>
                </a:srgbClr>
              </a:solidFill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35264586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solidFill>
          <a:srgbClr val="f2f2f2">
            <a:alpha val="39000"/>
          </a:srgbClr>
        </a:solidFill>
        <a:ln w="0">
          <a:noFill/>
        </a:ln>
      </c:spPr>
      <c:txPr>
        <a:bodyPr/>
        <a:lstStyle/>
        <a:p>
          <a:pPr>
            <a:defRPr b="0" sz="1197" spc="-1" strike="noStrike">
              <a:solidFill>
                <a:srgbClr val="404040"/>
              </a:solidFill>
              <a:latin typeface="Calibri"/>
            </a:defRPr>
          </a:pPr>
        </a:p>
      </c:txPr>
    </c:legend>
    <c:plotVisOnly val="1"/>
    <c:dispBlanksAs val="span"/>
  </c:chart>
  <c:spPr>
    <a:gradFill>
      <a:gsLst>
        <a:gs pos="0">
          <a:srgbClr val="ffffff"/>
        </a:gs>
        <a:gs pos="39000">
          <a:srgbClr val="ffffff"/>
        </a:gs>
        <a:gs pos="100000">
          <a:srgbClr val="bfbfbf"/>
        </a:gs>
      </a:gsLst>
      <a:path path="circle">
        <a:fillToRect l="50000" t="0" r="50000" b="100000"/>
      </a:path>
    </a:gradFill>
    <a:ln w="9360">
      <a:solidFill>
        <a:srgbClr val="bfbfbf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4382355-8335-43E3-A919-BCD4CCDC7B0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F79A6B-7262-4187-BA9F-3881823D49B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CD0C01-9A10-427F-985B-F5D4D06461B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94F59E-B640-4DF1-B948-6593CD87B4C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89191B-D5FE-46A8-B809-7B31954FCB0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D763A6-FA28-4EB4-B487-59A017775B9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D13833-91B7-4159-8DCD-809330C302C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278D60-FAF9-4CFD-A60A-82B18BC8D97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B718FD-FD9C-439E-AD4D-12D97808097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8344C3-D35B-402E-A07A-1B88AE49341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B4BD20-D9A5-4CCF-9532-0FEB34E226C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A37B3C-E0EE-4540-80C3-2F051323296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E3EF3A-054E-4AD9-B1E9-A217E5601A4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132320" y="-914400"/>
            <a:ext cx="3199680" cy="319968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680960" y="731520"/>
            <a:ext cx="2010960" cy="2010960"/>
          </a:xfrm>
          <a:prstGeom prst="ellipse">
            <a:avLst/>
          </a:prstGeom>
          <a:solidFill>
            <a:srgbClr val="16a8a7">
              <a:alpha val="22000"/>
            </a:srgbClr>
          </a:solidFill>
          <a:ln w="12700">
            <a:solidFill>
              <a:srgbClr val="16a8a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5760" y="25596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6a8a7"/>
                </a:solidFill>
                <a:latin typeface="Calibri"/>
                <a:ea typeface="Calibri"/>
              </a:rPr>
              <a:t>Technical &amp; Business Writing · 2025–2026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65760" y="640080"/>
            <a:ext cx="5942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Influence of Generative AI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on Metacognitive Skills: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65760" y="2240280"/>
            <a:ext cx="5942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0e7c7b"/>
                </a:solidFill>
                <a:latin typeface="Calibri"/>
                <a:ea typeface="Calibri"/>
              </a:rPr>
              <a:t>Planning, Monitoring &amp; Self-Evaluation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65760" y="2944440"/>
            <a:ext cx="5028480" cy="36000"/>
          </a:xfrm>
          <a:prstGeom prst="rect">
            <a:avLst/>
          </a:prstGeom>
          <a:solidFill>
            <a:srgbClr val="16a8a7"/>
          </a:solidFill>
          <a:ln w="12700">
            <a:solidFill>
              <a:srgbClr val="16a8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65760" y="30906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dd0"/>
                </a:solidFill>
                <a:latin typeface="Calibri"/>
                <a:ea typeface="Calibri"/>
              </a:rPr>
              <a:t>Taha Akhtar(23K-0555) · Saad Hussain(23K-0705) · Syed Farhan Ali(23K-0862) · Tanzeel Adnan(23K-0849) · Saaim Zeeshan(23K-0573)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65760" y="340164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a8af"/>
                </a:solidFill>
                <a:latin typeface="Calibri"/>
                <a:ea typeface="Calibri"/>
              </a:rPr>
              <a:t>FAST NUCES, Karachi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65760" y="4389120"/>
            <a:ext cx="1965240" cy="346680"/>
          </a:xfrm>
          <a:prstGeom prst="roundRect">
            <a:avLst>
              <a:gd name="adj" fmla="val 13158"/>
            </a:avLst>
          </a:prstGeom>
          <a:solidFill>
            <a:srgbClr val="0e7c7b">
              <a:alpha val="30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365760" y="438912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Generative AI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468880" y="4389120"/>
            <a:ext cx="1965240" cy="346680"/>
          </a:xfrm>
          <a:prstGeom prst="roundRect">
            <a:avLst>
              <a:gd name="adj" fmla="val 13158"/>
            </a:avLst>
          </a:prstGeom>
          <a:solidFill>
            <a:srgbClr val="0e7c7b">
              <a:alpha val="30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468880" y="438912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Metacognition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4572000" y="4389120"/>
            <a:ext cx="1965240" cy="346680"/>
          </a:xfrm>
          <a:prstGeom prst="roundRect">
            <a:avLst>
              <a:gd name="adj" fmla="val 13158"/>
            </a:avLst>
          </a:prstGeom>
          <a:solidFill>
            <a:srgbClr val="0e7c7b">
              <a:alpha val="30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0" y="438912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Self-Regulated Learning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675120" y="4389120"/>
            <a:ext cx="1965240" cy="346680"/>
          </a:xfrm>
          <a:prstGeom prst="roundRect">
            <a:avLst>
              <a:gd name="adj" fmla="val 13158"/>
            </a:avLst>
          </a:prstGeom>
          <a:solidFill>
            <a:srgbClr val="0e7c7b">
              <a:alpha val="30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675120" y="438912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FAST NUCES Karachi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Table of Contents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365760" y="822960"/>
            <a:ext cx="411408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365760" y="822960"/>
            <a:ext cx="593640" cy="118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365760" y="822960"/>
            <a:ext cx="593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1051560" y="960120"/>
            <a:ext cx="333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2137"/>
                </a:solidFill>
                <a:latin typeface="Calibri"/>
                <a:ea typeface="Calibri"/>
              </a:rPr>
              <a:t>Introduction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051560" y="1353240"/>
            <a:ext cx="3336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Background, problem statement &amp; objectives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365760" y="2194560"/>
            <a:ext cx="411408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365760" y="2194560"/>
            <a:ext cx="593640" cy="118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365760" y="2194560"/>
            <a:ext cx="593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1051560" y="2331720"/>
            <a:ext cx="333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2137"/>
                </a:solidFill>
                <a:latin typeface="Calibri"/>
                <a:ea typeface="Calibri"/>
              </a:rPr>
              <a:t>Literature Review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1051560" y="2724840"/>
            <a:ext cx="3336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Prior studies, metacognitive laziness, gaps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365760" y="3566160"/>
            <a:ext cx="411408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365760" y="3566160"/>
            <a:ext cx="593640" cy="118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365760" y="3566160"/>
            <a:ext cx="593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051560" y="3703320"/>
            <a:ext cx="333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2137"/>
                </a:solidFill>
                <a:latin typeface="Calibri"/>
                <a:ea typeface="Calibri"/>
              </a:rPr>
              <a:t>Methodology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1051560" y="4096440"/>
            <a:ext cx="3336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Survey design, sample, instrument &amp; analysis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4846320" y="822960"/>
            <a:ext cx="411408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4846320" y="822960"/>
            <a:ext cx="593640" cy="118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4846320" y="822960"/>
            <a:ext cx="593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5532120" y="960120"/>
            <a:ext cx="333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2137"/>
                </a:solidFill>
                <a:latin typeface="Calibri"/>
                <a:ea typeface="Calibri"/>
              </a:rPr>
              <a:t>Findings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5532120" y="1353240"/>
            <a:ext cx="3336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Usage patterns, planning &amp; self-evaluation scores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4846320" y="2194560"/>
            <a:ext cx="411408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4846320" y="2194560"/>
            <a:ext cx="593640" cy="118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4846320" y="2194560"/>
            <a:ext cx="593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5532120" y="2331720"/>
            <a:ext cx="333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2137"/>
                </a:solidFill>
                <a:latin typeface="Calibri"/>
                <a:ea typeface="Calibri"/>
              </a:rPr>
              <a:t>Recommendations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5532120" y="2724840"/>
            <a:ext cx="3336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For educators, students &amp; institutions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7"/>
          <p:cNvSpPr/>
          <p:nvPr/>
        </p:nvSpPr>
        <p:spPr>
          <a:xfrm>
            <a:off x="4846320" y="3566160"/>
            <a:ext cx="411408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8"/>
          <p:cNvSpPr/>
          <p:nvPr/>
        </p:nvSpPr>
        <p:spPr>
          <a:xfrm>
            <a:off x="4846320" y="3566160"/>
            <a:ext cx="593640" cy="118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4846320" y="3566160"/>
            <a:ext cx="5936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5532120" y="3703320"/>
            <a:ext cx="333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2137"/>
                </a:solidFill>
                <a:latin typeface="Calibri"/>
                <a:ea typeface="Calibri"/>
              </a:rPr>
              <a:t>Conclusion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5532120" y="4096440"/>
            <a:ext cx="3336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Key takeaways &amp; future directions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274320" y="777240"/>
            <a:ext cx="265104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274320" y="777240"/>
            <a:ext cx="2651040" cy="346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65760" y="77724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Problem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384120" y="1188720"/>
            <a:ext cx="24314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2137"/>
                </a:solidFill>
                <a:latin typeface="Calibri"/>
                <a:ea typeface="Calibri"/>
              </a:rPr>
              <a:t>GenAI now handles cognitive tasks — planning, writing &amp; debugging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108960" y="777240"/>
            <a:ext cx="265104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3108960" y="777240"/>
            <a:ext cx="2651040" cy="346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3200400" y="77724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Research Focus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3218760" y="1188720"/>
            <a:ext cx="24314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2137"/>
                </a:solidFill>
                <a:latin typeface="Calibri"/>
                <a:ea typeface="Calibri"/>
              </a:rPr>
              <a:t>Do planning &amp; self-evaluation weaken with AI use?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274320" y="2606040"/>
            <a:ext cx="265104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274320" y="2606040"/>
            <a:ext cx="2651040" cy="346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365760" y="260604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Study Gap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384120" y="3017520"/>
            <a:ext cx="24314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2137"/>
                </a:solidFill>
                <a:latin typeface="Calibri"/>
                <a:ea typeface="Calibri"/>
              </a:rPr>
              <a:t>No study on Pakistani computing undergraduates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3108960" y="2606040"/>
            <a:ext cx="2651040" cy="159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3108960" y="2606040"/>
            <a:ext cx="2651040" cy="346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3200400" y="260604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Our Approach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3218760" y="3017520"/>
            <a:ext cx="24314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2137"/>
                </a:solidFill>
                <a:latin typeface="Calibri"/>
                <a:ea typeface="Calibri"/>
              </a:rPr>
              <a:t>Survey of 70 CS/SE/AI/DS students at FAST NUCES Karachi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5943600" y="73152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Zimmerman's SRL Framework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5943600" y="100584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(Theoretical Basis)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6035040" y="1325880"/>
            <a:ext cx="2833920" cy="749160"/>
          </a:xfrm>
          <a:prstGeom prst="roundRect">
            <a:avLst>
              <a:gd name="adj" fmla="val 9756"/>
            </a:avLst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6035040" y="137160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FORETHOUGHT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6035040" y="171000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8f0ef"/>
                </a:solidFill>
                <a:latin typeface="Calibri"/>
                <a:ea typeface="Calibri"/>
              </a:rPr>
              <a:t>Planning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7223760" y="2075760"/>
            <a:ext cx="273600" cy="236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7178040" y="2148840"/>
            <a:ext cx="365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6035040" y="2286000"/>
            <a:ext cx="2833920" cy="749160"/>
          </a:xfrm>
          <a:prstGeom prst="roundRect">
            <a:avLst>
              <a:gd name="adj" fmla="val 9756"/>
            </a:avLst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6035040" y="233172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6035040" y="267012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8f0ef"/>
                </a:solidFill>
                <a:latin typeface="Calibri"/>
                <a:ea typeface="Calibri"/>
              </a:rPr>
              <a:t>Monitoring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7223760" y="3035880"/>
            <a:ext cx="273600" cy="236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7178040" y="3108960"/>
            <a:ext cx="365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>
            <a:off x="6035040" y="3246120"/>
            <a:ext cx="2833920" cy="749160"/>
          </a:xfrm>
          <a:prstGeom prst="roundRect">
            <a:avLst>
              <a:gd name="adj" fmla="val 9756"/>
            </a:avLst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6035040" y="329184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SELF-REFLECTION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6035040" y="363024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8f0ef"/>
                </a:solidFill>
                <a:latin typeface="Calibri"/>
                <a:ea typeface="Calibri"/>
              </a:rPr>
              <a:t>Self-Evaluation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5833800" y="1325880"/>
            <a:ext cx="163800" cy="2669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5577840" y="2377440"/>
            <a:ext cx="776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7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Shape 36"/>
          <p:cNvSpPr/>
          <p:nvPr/>
        </p:nvSpPr>
        <p:spPr>
          <a:xfrm>
            <a:off x="274320" y="4526280"/>
            <a:ext cx="8594640" cy="410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274320" y="4526280"/>
            <a:ext cx="8594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e7c7b"/>
                </a:solidFill>
                <a:latin typeface="Calibri"/>
                <a:ea typeface="Calibri"/>
              </a:rPr>
              <a:t>FAST NUCES graduates need independent judgment — GenAI may quietly erode it before they graduate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Literature Review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228600" y="713160"/>
            <a:ext cx="1416600" cy="41976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01680" y="713160"/>
            <a:ext cx="1325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Author/s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1645920" y="713160"/>
            <a:ext cx="1736640" cy="419760"/>
          </a:xfrm>
          <a:prstGeom prst="rect">
            <a:avLst/>
          </a:prstGeom>
          <a:solidFill>
            <a:srgbClr val="0a636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719000" y="713160"/>
            <a:ext cx="16452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Problem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3383280" y="713160"/>
            <a:ext cx="1690920" cy="41976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3456360" y="713160"/>
            <a:ext cx="1599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5074920" y="713160"/>
            <a:ext cx="1782360" cy="419760"/>
          </a:xfrm>
          <a:prstGeom prst="rect">
            <a:avLst/>
          </a:prstGeom>
          <a:solidFill>
            <a:srgbClr val="0a636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148000" y="713160"/>
            <a:ext cx="16909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Result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6858000" y="713160"/>
            <a:ext cx="2056680" cy="41976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6931080" y="713160"/>
            <a:ext cx="19652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Conclusion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228600" y="1134000"/>
            <a:ext cx="141660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301680" y="1170360"/>
            <a:ext cx="128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Fan et 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(2024)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1645920" y="1134000"/>
            <a:ext cx="173664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1719000" y="1170360"/>
            <a:ext cx="1608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Does GenAI reduce self-regulated learning effort?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7"/>
          <p:cNvSpPr/>
          <p:nvPr/>
        </p:nvSpPr>
        <p:spPr>
          <a:xfrm>
            <a:off x="3383280" y="1134000"/>
            <a:ext cx="169092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3456360" y="1170360"/>
            <a:ext cx="1562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Randomized writing experiment, 4 groups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5074920" y="1134000"/>
            <a:ext cx="178236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5148000" y="1170360"/>
            <a:ext cx="1654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ChatGPT group engaged far less in planning &amp; evaluation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1"/>
          <p:cNvSpPr/>
          <p:nvPr/>
        </p:nvSpPr>
        <p:spPr>
          <a:xfrm>
            <a:off x="6858000" y="1134000"/>
            <a:ext cx="205668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6931080" y="1170360"/>
            <a:ext cx="1928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GenAI creates metacognitive laziness in students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3"/>
          <p:cNvSpPr/>
          <p:nvPr/>
        </p:nvSpPr>
        <p:spPr>
          <a:xfrm>
            <a:off x="228600" y="1892880"/>
            <a:ext cx="141660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301680" y="1929240"/>
            <a:ext cx="128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Stadler et 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(2024)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25"/>
          <p:cNvSpPr/>
          <p:nvPr/>
        </p:nvSpPr>
        <p:spPr>
          <a:xfrm>
            <a:off x="1645920" y="1892880"/>
            <a:ext cx="173664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1719000" y="1929240"/>
            <a:ext cx="1608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Does ChatGPT improve problem-solving while harming self-assessment?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7"/>
          <p:cNvSpPr/>
          <p:nvPr/>
        </p:nvSpPr>
        <p:spPr>
          <a:xfrm>
            <a:off x="3383280" y="1892880"/>
            <a:ext cx="169092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3456360" y="1929240"/>
            <a:ext cx="1562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Pre-registered experiment, 145 students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9"/>
          <p:cNvSpPr/>
          <p:nvPr/>
        </p:nvSpPr>
        <p:spPr>
          <a:xfrm>
            <a:off x="5074920" y="1892880"/>
            <a:ext cx="178236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5148000" y="1929240"/>
            <a:ext cx="1654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Better output but users overestimated own understanding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31"/>
          <p:cNvSpPr/>
          <p:nvPr/>
        </p:nvSpPr>
        <p:spPr>
          <a:xfrm>
            <a:off x="6858000" y="1892880"/>
            <a:ext cx="205668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2"/>
          <p:cNvSpPr/>
          <p:nvPr/>
        </p:nvSpPr>
        <p:spPr>
          <a:xfrm>
            <a:off x="6931080" y="1929240"/>
            <a:ext cx="1928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AI improves performance but distorts self-evaluation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33"/>
          <p:cNvSpPr/>
          <p:nvPr/>
        </p:nvSpPr>
        <p:spPr>
          <a:xfrm>
            <a:off x="228600" y="2651760"/>
            <a:ext cx="141660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4"/>
          <p:cNvSpPr/>
          <p:nvPr/>
        </p:nvSpPr>
        <p:spPr>
          <a:xfrm>
            <a:off x="301680" y="2688480"/>
            <a:ext cx="128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Xu et 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(2025)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5"/>
          <p:cNvSpPr/>
          <p:nvPr/>
        </p:nvSpPr>
        <p:spPr>
          <a:xfrm>
            <a:off x="1645920" y="2651760"/>
            <a:ext cx="173664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36"/>
          <p:cNvSpPr/>
          <p:nvPr/>
        </p:nvSpPr>
        <p:spPr>
          <a:xfrm>
            <a:off x="1719000" y="2688480"/>
            <a:ext cx="1608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Can metacognitive prompts restore self-regulated AI use?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37"/>
          <p:cNvSpPr/>
          <p:nvPr/>
        </p:nvSpPr>
        <p:spPr>
          <a:xfrm>
            <a:off x="3383280" y="2651760"/>
            <a:ext cx="169092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38"/>
          <p:cNvSpPr/>
          <p:nvPr/>
        </p:nvSpPr>
        <p:spPr>
          <a:xfrm>
            <a:off x="3456360" y="2688480"/>
            <a:ext cx="1562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AI with vs without built-in support prompts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39"/>
          <p:cNvSpPr/>
          <p:nvPr/>
        </p:nvSpPr>
        <p:spPr>
          <a:xfrm>
            <a:off x="5074920" y="2651760"/>
            <a:ext cx="178236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40"/>
          <p:cNvSpPr/>
          <p:nvPr/>
        </p:nvSpPr>
        <p:spPr>
          <a:xfrm>
            <a:off x="5148000" y="2688480"/>
            <a:ext cx="1654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Without prompts, students skipped planning entirely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41"/>
          <p:cNvSpPr/>
          <p:nvPr/>
        </p:nvSpPr>
        <p:spPr>
          <a:xfrm>
            <a:off x="6858000" y="2651760"/>
            <a:ext cx="205668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42"/>
          <p:cNvSpPr/>
          <p:nvPr/>
        </p:nvSpPr>
        <p:spPr>
          <a:xfrm>
            <a:off x="6931080" y="2688480"/>
            <a:ext cx="1928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Prompts are essential to prevent metacognitive bypass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43"/>
          <p:cNvSpPr/>
          <p:nvPr/>
        </p:nvSpPr>
        <p:spPr>
          <a:xfrm>
            <a:off x="228600" y="3410640"/>
            <a:ext cx="141660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4"/>
          <p:cNvSpPr/>
          <p:nvPr/>
        </p:nvSpPr>
        <p:spPr>
          <a:xfrm>
            <a:off x="301680" y="3447360"/>
            <a:ext cx="128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Gerlich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(2025)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45"/>
          <p:cNvSpPr/>
          <p:nvPr/>
        </p:nvSpPr>
        <p:spPr>
          <a:xfrm>
            <a:off x="1645920" y="3410640"/>
            <a:ext cx="173664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46"/>
          <p:cNvSpPr/>
          <p:nvPr/>
        </p:nvSpPr>
        <p:spPr>
          <a:xfrm>
            <a:off x="1719000" y="3447360"/>
            <a:ext cx="1608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Does frequent AI use reduce critical thinking?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47"/>
          <p:cNvSpPr/>
          <p:nvPr/>
        </p:nvSpPr>
        <p:spPr>
          <a:xfrm>
            <a:off x="3383280" y="3410640"/>
            <a:ext cx="169092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8"/>
          <p:cNvSpPr/>
          <p:nvPr/>
        </p:nvSpPr>
        <p:spPr>
          <a:xfrm>
            <a:off x="3456360" y="3447360"/>
            <a:ext cx="1562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Survey of 666 participants; cognitive offloading measured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49"/>
          <p:cNvSpPr/>
          <p:nvPr/>
        </p:nvSpPr>
        <p:spPr>
          <a:xfrm>
            <a:off x="5074920" y="3410640"/>
            <a:ext cx="178236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50"/>
          <p:cNvSpPr/>
          <p:nvPr/>
        </p:nvSpPr>
        <p:spPr>
          <a:xfrm>
            <a:off x="5148000" y="3447360"/>
            <a:ext cx="1654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Negative correlation: AI use vs critical thinking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51"/>
          <p:cNvSpPr/>
          <p:nvPr/>
        </p:nvSpPr>
        <p:spPr>
          <a:xfrm>
            <a:off x="6858000" y="3410640"/>
            <a:ext cx="2056680" cy="758160"/>
          </a:xfrm>
          <a:prstGeom prst="rect">
            <a:avLst/>
          </a:prstGeom>
          <a:solidFill>
            <a:srgbClr val="e8f4f4"/>
          </a:solidFill>
          <a:ln w="12700">
            <a:solidFill>
              <a:srgbClr val="c5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2"/>
          <p:cNvSpPr/>
          <p:nvPr/>
        </p:nvSpPr>
        <p:spPr>
          <a:xfrm>
            <a:off x="6931080" y="3447360"/>
            <a:ext cx="1928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AI offloading erodes independent reasoning over time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53"/>
          <p:cNvSpPr/>
          <p:nvPr/>
        </p:nvSpPr>
        <p:spPr>
          <a:xfrm>
            <a:off x="228600" y="4169520"/>
            <a:ext cx="141660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54"/>
          <p:cNvSpPr/>
          <p:nvPr/>
        </p:nvSpPr>
        <p:spPr>
          <a:xfrm>
            <a:off x="301680" y="4206240"/>
            <a:ext cx="1288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Ng et 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(2024)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55"/>
          <p:cNvSpPr/>
          <p:nvPr/>
        </p:nvSpPr>
        <p:spPr>
          <a:xfrm>
            <a:off x="1645920" y="4169520"/>
            <a:ext cx="173664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56"/>
          <p:cNvSpPr/>
          <p:nvPr/>
        </p:nvSpPr>
        <p:spPr>
          <a:xfrm>
            <a:off x="1719000" y="4206240"/>
            <a:ext cx="1608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Does ChatGPT support self-regulated learning in science?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57"/>
          <p:cNvSpPr/>
          <p:nvPr/>
        </p:nvSpPr>
        <p:spPr>
          <a:xfrm>
            <a:off x="3383280" y="4169520"/>
            <a:ext cx="169092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58"/>
          <p:cNvSpPr/>
          <p:nvPr/>
        </p:nvSpPr>
        <p:spPr>
          <a:xfrm>
            <a:off x="3456360" y="4206240"/>
            <a:ext cx="1562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GenAI chatbot vs rule-based chatbot comparison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59"/>
          <p:cNvSpPr/>
          <p:nvPr/>
        </p:nvSpPr>
        <p:spPr>
          <a:xfrm>
            <a:off x="5074920" y="4169520"/>
            <a:ext cx="178236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60"/>
          <p:cNvSpPr/>
          <p:nvPr/>
        </p:nvSpPr>
        <p:spPr>
          <a:xfrm>
            <a:off x="5148000" y="4206240"/>
            <a:ext cx="1654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Richer feedback but too general to prompt own planning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61"/>
          <p:cNvSpPr/>
          <p:nvPr/>
        </p:nvSpPr>
        <p:spPr>
          <a:xfrm>
            <a:off x="6858000" y="4169520"/>
            <a:ext cx="2056680" cy="75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62"/>
          <p:cNvSpPr/>
          <p:nvPr/>
        </p:nvSpPr>
        <p:spPr>
          <a:xfrm>
            <a:off x="6931080" y="4206240"/>
            <a:ext cx="19285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Students risk skipping the forethought/planning phase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Methodology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274320" y="731520"/>
            <a:ext cx="2010960" cy="319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274320" y="731520"/>
            <a:ext cx="2010960" cy="502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1005840" y="421200"/>
            <a:ext cx="511200" cy="5112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024200" y="5119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c7b"/>
                </a:solidFill>
                <a:latin typeface="Calibri"/>
                <a:ea typeface="Calibri"/>
              </a:rPr>
              <a:t>01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347400" y="777240"/>
            <a:ext cx="186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Population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384120" y="1353240"/>
            <a:ext cx="17913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n = 70 AI users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CS/SE/AI/DS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FAST NUCES Karachi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2286000" y="1645920"/>
            <a:ext cx="200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c7b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2487240" y="731520"/>
            <a:ext cx="2010960" cy="319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2487240" y="731520"/>
            <a:ext cx="2010960" cy="502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3227760" y="437760"/>
            <a:ext cx="511200" cy="5112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3237120" y="5119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c7b"/>
                </a:solidFill>
                <a:latin typeface="Calibri"/>
                <a:ea typeface="Calibri"/>
              </a:rPr>
              <a:t>02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2560320" y="777240"/>
            <a:ext cx="186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Survey Design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2597040" y="1353240"/>
            <a:ext cx="17913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20 questions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Google Forms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Anonymous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4498920" y="1645920"/>
            <a:ext cx="200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c7b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4700160" y="731520"/>
            <a:ext cx="2010960" cy="319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4700160" y="731520"/>
            <a:ext cx="2010960" cy="502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5449680" y="437760"/>
            <a:ext cx="511200" cy="5112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5449680" y="5119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c7b"/>
                </a:solidFill>
                <a:latin typeface="Calibri"/>
                <a:ea typeface="Calibri"/>
              </a:rPr>
              <a:t>03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4773240" y="777240"/>
            <a:ext cx="186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Instrument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4809600" y="1353240"/>
            <a:ext cx="17913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Likert (1–5) based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Planning and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Self-Eval Questions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6711840" y="1645920"/>
            <a:ext cx="200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c7b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6912720" y="731520"/>
            <a:ext cx="2010960" cy="319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6912720" y="731520"/>
            <a:ext cx="2010960" cy="502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26"/>
          <p:cNvSpPr/>
          <p:nvPr/>
        </p:nvSpPr>
        <p:spPr>
          <a:xfrm>
            <a:off x="7657920" y="437760"/>
            <a:ext cx="511200" cy="5112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7"/>
          <p:cNvSpPr/>
          <p:nvPr/>
        </p:nvSpPr>
        <p:spPr>
          <a:xfrm>
            <a:off x="7662600" y="511920"/>
            <a:ext cx="5112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c7b"/>
                </a:solidFill>
                <a:latin typeface="Calibri"/>
                <a:ea typeface="Calibri"/>
              </a:rPr>
              <a:t>04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6986160" y="777240"/>
            <a:ext cx="186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Analysis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9"/>
          <p:cNvSpPr/>
          <p:nvPr/>
        </p:nvSpPr>
        <p:spPr>
          <a:xfrm>
            <a:off x="7022520" y="1353240"/>
            <a:ext cx="17913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Python 3.12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Pearson r, α=.05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Descriptive stats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0"/>
          <p:cNvSpPr/>
          <p:nvPr/>
        </p:nvSpPr>
        <p:spPr>
          <a:xfrm>
            <a:off x="228600" y="4041720"/>
            <a:ext cx="8594640" cy="822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31"/>
          <p:cNvSpPr/>
          <p:nvPr/>
        </p:nvSpPr>
        <p:spPr>
          <a:xfrm>
            <a:off x="457200" y="411480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7c7b"/>
                </a:solidFill>
                <a:latin typeface="Calibri"/>
                <a:ea typeface="Calibri"/>
              </a:rPr>
              <a:t>Research Design: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2"/>
          <p:cNvSpPr/>
          <p:nvPr/>
        </p:nvSpPr>
        <p:spPr>
          <a:xfrm>
            <a:off x="2103120" y="4114800"/>
            <a:ext cx="6582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Cross-sectional quantitative survey  ·  Convenience sampling  ·  CSV export → Python analysis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33"/>
          <p:cNvSpPr/>
          <p:nvPr/>
        </p:nvSpPr>
        <p:spPr>
          <a:xfrm>
            <a:off x="457200" y="4434840"/>
            <a:ext cx="2559600" cy="273600"/>
          </a:xfrm>
          <a:prstGeom prst="roundRect">
            <a:avLst>
              <a:gd name="adj" fmla="val 13333"/>
            </a:avLst>
          </a:prstGeom>
          <a:solidFill>
            <a:srgbClr val="0e7c7b">
              <a:alpha val="40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4"/>
          <p:cNvSpPr/>
          <p:nvPr/>
        </p:nvSpPr>
        <p:spPr>
          <a:xfrm>
            <a:off x="457200" y="443484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Voluntary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5"/>
          <p:cNvSpPr/>
          <p:nvPr/>
        </p:nvSpPr>
        <p:spPr>
          <a:xfrm>
            <a:off x="5943600" y="4434480"/>
            <a:ext cx="2559600" cy="273600"/>
          </a:xfrm>
          <a:prstGeom prst="roundRect">
            <a:avLst>
              <a:gd name="adj" fmla="val 13333"/>
            </a:avLst>
          </a:prstGeom>
          <a:solidFill>
            <a:srgbClr val="0e7c7b">
              <a:alpha val="40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6"/>
          <p:cNvSpPr/>
          <p:nvPr/>
        </p:nvSpPr>
        <p:spPr>
          <a:xfrm>
            <a:off x="5943600" y="443448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Anonymous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Findings — AI Usage Patterns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8" name="Chart 0"/>
          <p:cNvGraphicFramePr/>
          <p:nvPr/>
        </p:nvGraphicFramePr>
        <p:xfrm>
          <a:off x="182880" y="713160"/>
          <a:ext cx="4205520" cy="2742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9" name="Shape 3"/>
          <p:cNvSpPr/>
          <p:nvPr/>
        </p:nvSpPr>
        <p:spPr>
          <a:xfrm>
            <a:off x="4480560" y="749880"/>
            <a:ext cx="1443960" cy="1279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4480560" y="804600"/>
            <a:ext cx="1443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97.1%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4480560" y="1463040"/>
            <a:ext cx="1443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8f0ef"/>
                </a:solidFill>
                <a:latin typeface="Calibri"/>
                <a:ea typeface="Calibri"/>
              </a:rPr>
              <a:t>Use AI daily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8f0ef"/>
                </a:solidFill>
                <a:latin typeface="Calibri"/>
                <a:ea typeface="Calibri"/>
              </a:rPr>
              <a:t>or weekly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6053400" y="749880"/>
            <a:ext cx="1443960" cy="12794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6053400" y="804600"/>
            <a:ext cx="1443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64.3%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6053400" y="1463040"/>
            <a:ext cx="1443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8f0ef"/>
                </a:solidFill>
                <a:latin typeface="Calibri"/>
                <a:ea typeface="Calibri"/>
              </a:rPr>
              <a:t>Consult AI throughout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8f0ef"/>
                </a:solidFill>
                <a:latin typeface="Calibri"/>
                <a:ea typeface="Calibri"/>
              </a:rPr>
              <a:t>entire process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7626240" y="749880"/>
            <a:ext cx="1443960" cy="1279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0"/>
          <p:cNvSpPr/>
          <p:nvPr/>
        </p:nvSpPr>
        <p:spPr>
          <a:xfrm>
            <a:off x="7626240" y="804600"/>
            <a:ext cx="1443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65.7%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7626240" y="1463040"/>
            <a:ext cx="1443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8f0ef"/>
                </a:solidFill>
                <a:latin typeface="Calibri"/>
                <a:ea typeface="Calibri"/>
              </a:rPr>
              <a:t>Skim or immediately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8f0ef"/>
                </a:solidFill>
                <a:latin typeface="Calibri"/>
                <a:ea typeface="Calibri"/>
              </a:rPr>
              <a:t>accept AI output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4480560" y="219456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2137"/>
                </a:solidFill>
                <a:latin typeface="Calibri"/>
                <a:ea typeface="Calibri"/>
              </a:rPr>
              <a:t>Metacognitive Laziness — By Stage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3"/>
          <p:cNvSpPr/>
          <p:nvPr/>
        </p:nvSpPr>
        <p:spPr>
          <a:xfrm>
            <a:off x="4480560" y="2606040"/>
            <a:ext cx="1490040" cy="383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4"/>
          <p:cNvSpPr/>
          <p:nvPr/>
        </p:nvSpPr>
        <p:spPr>
          <a:xfrm>
            <a:off x="4480560" y="2606040"/>
            <a:ext cx="1444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42.9%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5"/>
          <p:cNvSpPr/>
          <p:nvPr/>
        </p:nvSpPr>
        <p:spPr>
          <a:xfrm>
            <a:off x="6044400" y="2606040"/>
            <a:ext cx="2806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No laziness reported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6"/>
          <p:cNvSpPr/>
          <p:nvPr/>
        </p:nvSpPr>
        <p:spPr>
          <a:xfrm>
            <a:off x="4480560" y="3154680"/>
            <a:ext cx="992880" cy="3834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7"/>
          <p:cNvSpPr/>
          <p:nvPr/>
        </p:nvSpPr>
        <p:spPr>
          <a:xfrm>
            <a:off x="4480560" y="3154680"/>
            <a:ext cx="947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28.6%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8"/>
          <p:cNvSpPr/>
          <p:nvPr/>
        </p:nvSpPr>
        <p:spPr>
          <a:xfrm>
            <a:off x="5547600" y="3154680"/>
            <a:ext cx="3303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During Development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4480560" y="3703320"/>
            <a:ext cx="794880" cy="383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0"/>
          <p:cNvSpPr/>
          <p:nvPr/>
        </p:nvSpPr>
        <p:spPr>
          <a:xfrm>
            <a:off x="4480560" y="3703320"/>
            <a:ext cx="749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22.9%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5349600" y="3703320"/>
            <a:ext cx="3501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During Evaluation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2"/>
          <p:cNvSpPr/>
          <p:nvPr/>
        </p:nvSpPr>
        <p:spPr>
          <a:xfrm>
            <a:off x="4480560" y="4251960"/>
            <a:ext cx="502200" cy="383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3"/>
          <p:cNvSpPr/>
          <p:nvPr/>
        </p:nvSpPr>
        <p:spPr>
          <a:xfrm>
            <a:off x="4480560" y="4251960"/>
            <a:ext cx="456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4.3%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4"/>
          <p:cNvSpPr/>
          <p:nvPr/>
        </p:nvSpPr>
        <p:spPr>
          <a:xfrm>
            <a:off x="5056560" y="4251960"/>
            <a:ext cx="3794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During Planning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5"/>
          <p:cNvSpPr/>
          <p:nvPr/>
        </p:nvSpPr>
        <p:spPr>
          <a:xfrm>
            <a:off x="182880" y="3547800"/>
            <a:ext cx="420552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6"/>
          <p:cNvSpPr/>
          <p:nvPr/>
        </p:nvSpPr>
        <p:spPr>
          <a:xfrm>
            <a:off x="182880" y="3547800"/>
            <a:ext cx="4205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63946"/>
                </a:solidFill>
                <a:latin typeface="Calibri"/>
                <a:ea typeface="Calibri"/>
              </a:rPr>
              <a:t>⚠  </a:t>
            </a:r>
            <a:r>
              <a:rPr b="1" lang="en-US" sz="1000" spc="-1" strike="noStrike">
                <a:solidFill>
                  <a:srgbClr val="e63946"/>
                </a:solidFill>
                <a:latin typeface="Calibri"/>
                <a:ea typeface="Calibri"/>
              </a:rPr>
              <a:t>Only 34.3% critically evaluate AI output before use  ·  AI trust mean = 3.43 / 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365760" y="0"/>
            <a:ext cx="75888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Findings — Planning &amp; Self-Evaluation Scores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6" name="Chart 0"/>
          <p:cNvGraphicFramePr/>
          <p:nvPr/>
        </p:nvGraphicFramePr>
        <p:xfrm>
          <a:off x="182880" y="713160"/>
          <a:ext cx="4662720" cy="422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7" name="Text 3"/>
          <p:cNvSpPr/>
          <p:nvPr/>
        </p:nvSpPr>
        <p:spPr>
          <a:xfrm>
            <a:off x="5074920" y="7772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2137"/>
                </a:solidFill>
                <a:latin typeface="Calibri"/>
                <a:ea typeface="Calibri"/>
              </a:rPr>
              <a:t>Composite Scores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5074920" y="1170360"/>
            <a:ext cx="3839760" cy="132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5074920" y="1170360"/>
            <a:ext cx="3839760" cy="383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5139000" y="1170360"/>
            <a:ext cx="3711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Planning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7"/>
          <p:cNvSpPr/>
          <p:nvPr/>
        </p:nvSpPr>
        <p:spPr>
          <a:xfrm>
            <a:off x="5212080" y="1691640"/>
            <a:ext cx="3565440" cy="291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5212080" y="1691640"/>
            <a:ext cx="2459880" cy="291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8092440" y="165492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7c7b"/>
                </a:solidFill>
                <a:latin typeface="Calibri"/>
                <a:ea typeface="Calibri"/>
              </a:rPr>
              <a:t>3.45 /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5212080" y="2030040"/>
            <a:ext cx="3565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MODERATE — AI mediates planning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5074920" y="2450520"/>
            <a:ext cx="3839760" cy="132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5074920" y="2450520"/>
            <a:ext cx="3839760" cy="383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5139000" y="2450520"/>
            <a:ext cx="3711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Self-Evaluation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5212080" y="2971800"/>
            <a:ext cx="3565440" cy="291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5212080" y="2971800"/>
            <a:ext cx="2153160" cy="291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8075160" y="2944440"/>
            <a:ext cx="75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63946"/>
                </a:solidFill>
                <a:latin typeface="Calibri"/>
                <a:ea typeface="Calibri"/>
              </a:rPr>
              <a:t>3.02 /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5212080" y="3310200"/>
            <a:ext cx="3565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3946"/>
                </a:solidFill>
                <a:latin typeface="Calibri"/>
                <a:ea typeface="Calibri"/>
              </a:rPr>
              <a:t>AT MIDPOINT — most concerning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5074920" y="3913560"/>
            <a:ext cx="3839760" cy="986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5212080" y="39776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7c7b"/>
                </a:solidFill>
                <a:latin typeface="Calibri"/>
                <a:ea typeface="Calibri"/>
              </a:rPr>
              <a:t>Key Signal: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20"/>
          <p:cNvSpPr/>
          <p:nvPr/>
        </p:nvSpPr>
        <p:spPr>
          <a:xfrm>
            <a:off x="5212080" y="42246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Both scores sit close to the neutral midpoint (3.0), not at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5212080" y="44989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acdd0"/>
                </a:solidFill>
                <a:latin typeface="Calibri"/>
                <a:ea typeface="Calibri"/>
              </a:rPr>
              <a:t>strong autonomous engagement levels — the baseline has shifted.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Findings — Correlation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9" name="Chart 0"/>
          <p:cNvGraphicFramePr/>
          <p:nvPr/>
        </p:nvGraphicFramePr>
        <p:xfrm>
          <a:off x="182880" y="713160"/>
          <a:ext cx="4845600" cy="3565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0" name="Shape 3"/>
          <p:cNvSpPr/>
          <p:nvPr/>
        </p:nvSpPr>
        <p:spPr>
          <a:xfrm>
            <a:off x="182880" y="4316040"/>
            <a:ext cx="4845600" cy="5936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228600" y="4316040"/>
            <a:ext cx="47541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⚠  </a:t>
            </a:r>
            <a:r>
              <a:rPr b="0" i="1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All data clusters at freq 4–5 (near-zero variance) — this explains why r is non-significant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5257800" y="749880"/>
            <a:ext cx="3656880" cy="191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5257800" y="749880"/>
            <a:ext cx="3656880" cy="383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5330880" y="749880"/>
            <a:ext cx="3510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AI Freq ↔ Planning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5330880" y="1225440"/>
            <a:ext cx="35107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e7c7b"/>
                </a:solidFill>
                <a:latin typeface="Calibri"/>
                <a:ea typeface="Calibri"/>
              </a:rPr>
              <a:t>r = −0.169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330880" y="2084760"/>
            <a:ext cx="3510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p = .163   Not significant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5257800" y="2944440"/>
            <a:ext cx="3656880" cy="191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5257800" y="2944440"/>
            <a:ext cx="3656880" cy="383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5330880" y="2944440"/>
            <a:ext cx="3510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AI Freq ↔ Self-Eval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330880" y="3420000"/>
            <a:ext cx="35107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e63946"/>
                </a:solidFill>
                <a:latin typeface="Calibri"/>
                <a:ea typeface="Calibri"/>
              </a:rPr>
              <a:t>r = +0.053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5330880" y="4279320"/>
            <a:ext cx="3510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p = .662   Not significant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5257800" y="4617720"/>
            <a:ext cx="3656880" cy="346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5257800" y="461772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e7c7b"/>
                </a:solidFill>
                <a:latin typeface="Calibri"/>
                <a:ea typeface="Calibri"/>
              </a:rPr>
              <a:t>Homogeneity effect — not absence of impact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Recommendations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320040" y="749880"/>
            <a:ext cx="2742480" cy="420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320040" y="749880"/>
            <a:ext cx="2742480" cy="547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411480" y="749880"/>
            <a:ext cx="2559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For Educators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1325880" y="1389960"/>
            <a:ext cx="730800" cy="730800"/>
          </a:xfrm>
          <a:prstGeom prst="ellipse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1325880" y="138996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502920" y="2304360"/>
            <a:ext cx="227880" cy="227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822960" y="22492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Require pre-task planning artifacts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502920" y="2990160"/>
            <a:ext cx="227880" cy="227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822960" y="29350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Mandate comparative self-eval memos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502920" y="3675960"/>
            <a:ext cx="227880" cy="227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822960" y="36208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Teach AI literacy &amp; hallucination detection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3246120" y="749880"/>
            <a:ext cx="2742480" cy="420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3246120" y="749880"/>
            <a:ext cx="2742480" cy="547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3337560" y="749880"/>
            <a:ext cx="2559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For Students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4251960" y="1389960"/>
            <a:ext cx="730800" cy="730800"/>
          </a:xfrm>
          <a:prstGeom prst="ellipse">
            <a:avLst/>
          </a:prstGeom>
          <a:solidFill>
            <a:srgbClr val="1d6fa4">
              <a:alpha val="15000"/>
            </a:srgbClr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4251960" y="138996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🎓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3429000" y="2304360"/>
            <a:ext cx="227880" cy="22788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3749040" y="22492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Adopt interrogative AI use model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1"/>
          <p:cNvSpPr/>
          <p:nvPr/>
        </p:nvSpPr>
        <p:spPr>
          <a:xfrm>
            <a:off x="3429000" y="2990160"/>
            <a:ext cx="227880" cy="22788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3749040" y="29350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Ask AI to question your draft, not write it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3429000" y="3675960"/>
            <a:ext cx="227880" cy="22788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4"/>
          <p:cNvSpPr/>
          <p:nvPr/>
        </p:nvSpPr>
        <p:spPr>
          <a:xfrm>
            <a:off x="3749040" y="36208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Attempt task before consulting AI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5"/>
          <p:cNvSpPr/>
          <p:nvPr/>
        </p:nvSpPr>
        <p:spPr>
          <a:xfrm>
            <a:off x="6172200" y="749880"/>
            <a:ext cx="2742480" cy="420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26"/>
          <p:cNvSpPr/>
          <p:nvPr/>
        </p:nvSpPr>
        <p:spPr>
          <a:xfrm>
            <a:off x="6172200" y="749880"/>
            <a:ext cx="2742480" cy="547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7"/>
          <p:cNvSpPr/>
          <p:nvPr/>
        </p:nvSpPr>
        <p:spPr>
          <a:xfrm>
            <a:off x="6263640" y="749880"/>
            <a:ext cx="2559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For Institutions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28"/>
          <p:cNvSpPr/>
          <p:nvPr/>
        </p:nvSpPr>
        <p:spPr>
          <a:xfrm>
            <a:off x="7178040" y="1389960"/>
            <a:ext cx="730800" cy="730800"/>
          </a:xfrm>
          <a:prstGeom prst="ellipse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7178040" y="138996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🏛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0"/>
          <p:cNvSpPr/>
          <p:nvPr/>
        </p:nvSpPr>
        <p:spPr>
          <a:xfrm>
            <a:off x="6355080" y="2304360"/>
            <a:ext cx="227880" cy="227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31"/>
          <p:cNvSpPr/>
          <p:nvPr/>
        </p:nvSpPr>
        <p:spPr>
          <a:xfrm>
            <a:off x="6675120" y="22492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Develop tiered AI use policies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32"/>
          <p:cNvSpPr/>
          <p:nvPr/>
        </p:nvSpPr>
        <p:spPr>
          <a:xfrm>
            <a:off x="6355080" y="2990160"/>
            <a:ext cx="227880" cy="227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33"/>
          <p:cNvSpPr/>
          <p:nvPr/>
        </p:nvSpPr>
        <p:spPr>
          <a:xfrm>
            <a:off x="6675120" y="29350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Require AI use declarations per assignment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4"/>
          <p:cNvSpPr/>
          <p:nvPr/>
        </p:nvSpPr>
        <p:spPr>
          <a:xfrm>
            <a:off x="6355080" y="3675960"/>
            <a:ext cx="227880" cy="227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5"/>
          <p:cNvSpPr/>
          <p:nvPr/>
        </p:nvSpPr>
        <p:spPr>
          <a:xfrm>
            <a:off x="6675120" y="3620880"/>
            <a:ext cx="2148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d2137"/>
                </a:solidFill>
                <a:latin typeface="Calibri"/>
                <a:ea typeface="Calibri"/>
              </a:rPr>
              <a:t>Avoid blanket bans — guide structured use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Conclusion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8046720" y="0"/>
            <a:ext cx="913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7c7b"/>
                </a:solidFill>
                <a:latin typeface="Calibri"/>
                <a:ea typeface="Calibri"/>
              </a:rPr>
              <a:t>06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3" name="Chart 0"/>
          <p:cNvGraphicFramePr/>
          <p:nvPr/>
        </p:nvGraphicFramePr>
        <p:xfrm>
          <a:off x="182880" y="713160"/>
          <a:ext cx="4205520" cy="310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4" name="Shape 3"/>
          <p:cNvSpPr/>
          <p:nvPr/>
        </p:nvSpPr>
        <p:spPr>
          <a:xfrm>
            <a:off x="4567320" y="731160"/>
            <a:ext cx="4342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4567320" y="731520"/>
            <a:ext cx="4342680" cy="365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4645080" y="749880"/>
            <a:ext cx="4187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On Planning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4681800" y="1207080"/>
            <a:ext cx="163800" cy="163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4919400" y="1152000"/>
            <a:ext cx="391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2137"/>
                </a:solidFill>
                <a:latin typeface="Calibri"/>
                <a:ea typeface="Calibri"/>
              </a:rPr>
              <a:t>Mean = 3.45 — moderate, not robust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4681800" y="1581840"/>
            <a:ext cx="163800" cy="163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4919400" y="1527120"/>
            <a:ext cx="391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2137"/>
                </a:solidFill>
                <a:latin typeface="Calibri"/>
                <a:ea typeface="Calibri"/>
              </a:rPr>
              <a:t>AI heavily scaffolds structuring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4681800" y="1956960"/>
            <a:ext cx="163800" cy="163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4919400" y="1901880"/>
            <a:ext cx="391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2137"/>
                </a:solidFill>
                <a:latin typeface="Calibri"/>
                <a:ea typeface="Calibri"/>
              </a:rPr>
              <a:t>Skill present but increasingly AI-mediated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4567320" y="2519280"/>
            <a:ext cx="4342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4572000" y="2519280"/>
            <a:ext cx="4342680" cy="365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4645080" y="2578680"/>
            <a:ext cx="4187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On Self-Evaluation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4681800" y="3035880"/>
            <a:ext cx="163800" cy="163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4919400" y="2980800"/>
            <a:ext cx="391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2137"/>
                </a:solidFill>
                <a:latin typeface="Calibri"/>
                <a:ea typeface="Calibri"/>
              </a:rPr>
              <a:t>Mean = 3.02 — at midpoint, most alarming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7"/>
          <p:cNvSpPr/>
          <p:nvPr/>
        </p:nvSpPr>
        <p:spPr>
          <a:xfrm>
            <a:off x="4681800" y="3410640"/>
            <a:ext cx="163800" cy="163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4919400" y="3355920"/>
            <a:ext cx="391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2137"/>
                </a:solidFill>
                <a:latin typeface="Calibri"/>
                <a:ea typeface="Calibri"/>
              </a:rPr>
              <a:t>65.7% skim or accept AI output uncritically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4681800" y="3785760"/>
            <a:ext cx="163800" cy="163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0"/>
          <p:cNvSpPr/>
          <p:nvPr/>
        </p:nvSpPr>
        <p:spPr>
          <a:xfrm>
            <a:off x="4919400" y="3730680"/>
            <a:ext cx="391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2137"/>
                </a:solidFill>
                <a:latin typeface="Calibri"/>
                <a:ea typeface="Calibri"/>
              </a:rPr>
              <a:t>Work feels inauthentic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1"/>
          <p:cNvSpPr/>
          <p:nvPr/>
        </p:nvSpPr>
        <p:spPr>
          <a:xfrm>
            <a:off x="137160" y="4032360"/>
            <a:ext cx="8777520" cy="986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  <a:effectLst>
            <a:outerShdw algn="bl"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22"/>
          <p:cNvSpPr/>
          <p:nvPr/>
        </p:nvSpPr>
        <p:spPr>
          <a:xfrm>
            <a:off x="347400" y="39866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7c7b"/>
                </a:solidFill>
                <a:latin typeface="Calibri"/>
                <a:ea typeface="Calibri"/>
              </a:rPr>
              <a:t>Key Takeaway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347400" y="426096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d0eded"/>
                </a:solidFill>
                <a:latin typeface="Calibri"/>
                <a:ea typeface="Calibri"/>
              </a:rPr>
              <a:t>Without deliberate interventions — planning checkpoints, self-eval memos, AI literacy modules, and tiered policies — GenAI will quietly erode the metacognitive skills students need most when AI is unavailable.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365760" y="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References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347400" y="71316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594360" y="69480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[1] Michel-Villarreal et al., Education Sciences, vol. 13, no. 9, 2023.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"/>
          <p:cNvSpPr/>
          <p:nvPr/>
        </p:nvSpPr>
        <p:spPr>
          <a:xfrm>
            <a:off x="347400" y="109728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594360" y="107892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[2] Baidoo-Anu &amp; Owusu Ansah, Journal of AI, vol. 7, no. 1, 2023.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347400" y="148140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594360" y="14630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[3] Flavell, American Psychologist, vol. 34, no. 10, 1979.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8"/>
          <p:cNvSpPr/>
          <p:nvPr/>
        </p:nvSpPr>
        <p:spPr>
          <a:xfrm>
            <a:off x="347400" y="186552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594360" y="1847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[4] Zimmerman, Theory into Practice, vol. 41, no. 2, 2002.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0"/>
          <p:cNvSpPr/>
          <p:nvPr/>
        </p:nvSpPr>
        <p:spPr>
          <a:xfrm>
            <a:off x="347400" y="224928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1"/>
          <p:cNvSpPr/>
          <p:nvPr/>
        </p:nvSpPr>
        <p:spPr>
          <a:xfrm>
            <a:off x="594360" y="22312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[5] Ng et al., British Journal of Educational Technology, vol. 55, no. 4, 2024.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2"/>
          <p:cNvSpPr/>
          <p:nvPr/>
        </p:nvSpPr>
        <p:spPr>
          <a:xfrm>
            <a:off x="347400" y="263340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594360" y="26150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[6] Fan et al., British Journal of Educational Technology, vol. 56, no. 2, 2024.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4"/>
          <p:cNvSpPr/>
          <p:nvPr/>
        </p:nvSpPr>
        <p:spPr>
          <a:xfrm>
            <a:off x="4754880" y="71316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5010840" y="69480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[7] Essel et al., Computers and Education: AI, vol. 6, 2024.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6"/>
          <p:cNvSpPr/>
          <p:nvPr/>
        </p:nvSpPr>
        <p:spPr>
          <a:xfrm>
            <a:off x="4754880" y="109728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5010840" y="107892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[8] Xu et al., British Journal of Educational Technology, vol. 56, no. 4, 2025.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8"/>
          <p:cNvSpPr/>
          <p:nvPr/>
        </p:nvSpPr>
        <p:spPr>
          <a:xfrm>
            <a:off x="4754880" y="148140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5010840" y="146304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[9] Stadler et al., Computers &amp; Education, vol. 220, 2024.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20"/>
          <p:cNvSpPr/>
          <p:nvPr/>
        </p:nvSpPr>
        <p:spPr>
          <a:xfrm>
            <a:off x="4754880" y="186552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21"/>
          <p:cNvSpPr/>
          <p:nvPr/>
        </p:nvSpPr>
        <p:spPr>
          <a:xfrm>
            <a:off x="5010840" y="18471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[10] Gerlich, Societies, vol. 15, no. 1, 2025.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22"/>
          <p:cNvSpPr/>
          <p:nvPr/>
        </p:nvSpPr>
        <p:spPr>
          <a:xfrm>
            <a:off x="4754880" y="2249280"/>
            <a:ext cx="145440" cy="200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23"/>
          <p:cNvSpPr/>
          <p:nvPr/>
        </p:nvSpPr>
        <p:spPr>
          <a:xfrm>
            <a:off x="5010840" y="223128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2137"/>
                </a:solidFill>
                <a:latin typeface="Calibri"/>
                <a:ea typeface="Calibri"/>
              </a:rPr>
              <a:t>[11] Jose et al., Frontiers in Psychology, vol. 16, 2025.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-1371600" y="-1371600"/>
            <a:ext cx="4571280" cy="457128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1"/>
          <p:cNvSpPr/>
          <p:nvPr/>
        </p:nvSpPr>
        <p:spPr>
          <a:xfrm>
            <a:off x="6858000" y="2743200"/>
            <a:ext cx="3656880" cy="3656880"/>
          </a:xfrm>
          <a:prstGeom prst="ellipse">
            <a:avLst/>
          </a:prstGeom>
          <a:solidFill>
            <a:srgbClr val="16a8a7">
              <a:alpha val="20000"/>
            </a:srgbClr>
          </a:solidFill>
          <a:ln w="12700">
            <a:solidFill>
              <a:srgbClr val="16a8a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2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914400" y="1005840"/>
            <a:ext cx="73144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Thank You!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914400" y="228600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0e7c7b"/>
                </a:solidFill>
                <a:latin typeface="Calibri"/>
                <a:ea typeface="Calibri"/>
              </a:rPr>
              <a:t>Questions &amp; Discussion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5"/>
          <p:cNvSpPr/>
          <p:nvPr/>
        </p:nvSpPr>
        <p:spPr>
          <a:xfrm>
            <a:off x="2286000" y="2971800"/>
            <a:ext cx="4571280" cy="36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914400" y="3108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a8af"/>
                </a:solidFill>
                <a:latin typeface="Calibri"/>
                <a:ea typeface="Calibri"/>
              </a:rPr>
              <a:t>Influence of Generative AI on Metacognitive Skills · FAST NUCES Karachi · 2025–2026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914400" y="34930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a8af"/>
                </a:solidFill>
                <a:latin typeface="Calibri"/>
                <a:ea typeface="Calibri"/>
              </a:rPr>
              <a:t>Taha Akhtar · Saad Hussain · Syed Farhan Ali · Tanzeel Adnan · Saaim Zeeshan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Application>LibreOffice/24.2.7.2$Linux_X86_64 LibreOffice_project/420$Build-2</Application>
  <AppVersion>15.0000</AppVersion>
  <Words>1066</Words>
  <Paragraphs>224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2026-05-06T19:42:15Z</dcterms:created>
  <dc:creator>PptxGenJS</dc:creator>
  <dc:description/>
  <dc:language>en-US</dc:language>
  <cp:lastModifiedBy/>
  <dcterms:modified xsi:type="dcterms:W3CDTF">2026-05-07T14:48:24Z</dcterms:modified>
  <cp:revision>11</cp:revision>
  <dc:subject>PptxGenJS Presentation</dc:subject>
  <dc:title>Influence of Generative AI on Metacognitive Skills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